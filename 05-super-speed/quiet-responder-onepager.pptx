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1" i="0" u="none" strike="noStrike">
                <a:solidFill>
                  <a:srgbClr val="1E2761"/>
                </a:solidFill>
                <a:latin typeface="Calibri"/>
              </a:rPr>
              <a:t>Callout offers per week — Kip's two responders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 Gale</c:v>
                </c:pt>
              </c:strCache>
            </c:strRef>
          </c:tx>
          <c:spPr>
            <a:solidFill>
              <a:srgbClr val="EB6834"/>
            </a:solidFill>
            <a:ln w="3175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29 Jun</c:v>
                  </c:pt>
                  <c:pt idx="1">
                    <c:v>6 Jul</c:v>
                  </c:pt>
                  <c:pt idx="2">
                    <c:v>13 Jul</c:v>
                  </c:pt>
                  <c:pt idx="3">
                    <c:v>20 Jul</c:v>
                  </c:pt>
                  <c:pt idx="4">
                    <c:v>27 Jul</c:v>
                  </c:pt>
                  <c:pt idx="5">
                    <c:v>3 Aug</c:v>
                  </c:pt>
                  <c:pt idx="6">
                    <c:v>10 Aug</c:v>
                  </c:pt>
                  <c:pt idx="7">
                    <c:v>17 Aug</c:v>
                  </c:pt>
                  <c:pt idx="8">
                    <c:v>24 Aug</c:v>
                  </c:pt>
                  <c:pt idx="9">
                    <c:v>31 Aug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</c:v>
                </c:pt>
                <c:pt idx="1">
                  <c:v>12</c:v>
                </c:pt>
                <c:pt idx="2">
                  <c:v>13</c:v>
                </c:pt>
                <c:pt idx="3">
                  <c:v>14</c:v>
                </c:pt>
                <c:pt idx="4">
                  <c:v>13</c:v>
                </c:pt>
                <c:pt idx="5">
                  <c:v>13</c:v>
                </c:pt>
                <c:pt idx="6">
                  <c:v>15</c:v>
                </c:pt>
                <c:pt idx="7">
                  <c:v>17</c:v>
                </c:pt>
                <c:pt idx="8">
                  <c:v>20</c:v>
                </c:pt>
                <c:pt idx="9">
                  <c:v>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Meteor Mite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29 Jun</c:v>
                  </c:pt>
                  <c:pt idx="1">
                    <c:v>6 Jul</c:v>
                  </c:pt>
                  <c:pt idx="2">
                    <c:v>13 Jul</c:v>
                  </c:pt>
                  <c:pt idx="3">
                    <c:v>20 Jul</c:v>
                  </c:pt>
                  <c:pt idx="4">
                    <c:v>27 Jul</c:v>
                  </c:pt>
                  <c:pt idx="5">
                    <c:v>3 Aug</c:v>
                  </c:pt>
                  <c:pt idx="6">
                    <c:v>10 Aug</c:v>
                  </c:pt>
                  <c:pt idx="7">
                    <c:v>17 Aug</c:v>
                  </c:pt>
                  <c:pt idx="8">
                    <c:v>24 Aug</c:v>
                  </c:pt>
                  <c:pt idx="9">
                    <c:v>31 Aug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11</c:v>
                </c:pt>
                <c:pt idx="1">
                  <c:v>12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11</c:v>
                </c:pt>
                <c:pt idx="6">
                  <c:v>10</c:v>
                </c:pt>
                <c:pt idx="7">
                  <c:v>4</c:v>
                </c:pt>
                <c:pt idx="8">
                  <c:v>2</c:v>
                </c:pt>
                <c:pt idx="9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4E2DA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A8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0"/>
        <c:axPos val="l"/>
        <c:majorGridlines>
          <c:spPr>
            <a:ln w="9525" cap="flat">
              <a:solidFill>
                <a:srgbClr val="E4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2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2514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82880" cy="182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4944" y="301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CODE SHIPS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 didn't stop asking Meteor Mite because Mite got worse.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4630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60-second window costs a responder exactly what an active decline does. Nobody decided that on purpose — and nobody outside Engineering can currently tell the difference.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65960"/>
          <a:ext cx="6492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00507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shipped 12 Aug — the week offers to Mite started falling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269480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 MITE  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→ 1</a:t>
            </a:r>
            <a:pPr indent="0" marL="0">
              <a:buNone/>
            </a:pPr>
            <a:r>
              <a:rPr lang="en-US" sz="1000" dirty="0">
                <a:solidFill>
                  <a:srgbClr val="8A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offers/wk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269480" y="23500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GALE  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→ 21</a:t>
            </a:r>
            <a:pPr indent="0" marL="0">
              <a:buNone/>
            </a:pPr>
            <a:r>
              <a:rPr lang="en-US" sz="1000" dirty="0">
                <a:solidFill>
                  <a:srgbClr val="8A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offers/wk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269480" y="2807208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DF0DC"/>
          </a:solidFill>
          <a:ln w="9525">
            <a:solidFill>
              <a:srgbClr val="EAC07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784" y="29443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744968" y="2926080"/>
            <a:ext cx="34015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C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ranking code scores a missed window exactly like a real "no." A shorter window means more misses — each one lowers Mite’s ranking the same as a refusal would, so Mite is asked less, has fewer chances to recover, and ranks lower again.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2245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BUILD — VISIBLE TO THE PERSON IT HAPPENS TO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57200" y="4480560"/>
            <a:ext cx="550148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45152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60704" y="4608576"/>
            <a:ext cx="471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Kip's console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1060704" y="4882896"/>
            <a:ext cx="471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coverage card shows why offers dropped — missed windows vs. declines — so Kip stops guessing and stops saying "hang in there."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233008" y="4480560"/>
            <a:ext cx="550148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888" y="4645152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836512" y="4608576"/>
            <a:ext cx="471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Mite's phone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6836512" y="4882896"/>
            <a:ext cx="471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account, not silence: offers vs. usual, what actually happened, and a way to refresh standing directly.</a:t>
            </a:r>
            <a:endParaRPr lang="en-US" sz="1050" dirty="0"/>
          </a:p>
        </p:txBody>
      </p:sp>
      <p:sp>
        <p:nvSpPr>
          <p:cNvPr id="22" name="Text 15"/>
          <p:cNvSpPr txBox="1"/>
          <p:nvPr/>
        </p:nvSpPr>
        <p:spPr>
          <a:xfrm>
            <a:off x="457200" y="563270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BEFORE THIS IS BUILDABLE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57200" y="5833872"/>
            <a:ext cx="360669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85216" y="5879592"/>
            <a:ext cx="335066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decline/timeout split is discarded in code today — needs a real fix estimate.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292498" y="5833872"/>
            <a:ext cx="360669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4420514" y="5879592"/>
            <a:ext cx="335066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recovery action and its abuse limits aren't designed yet.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8127797" y="5833872"/>
            <a:ext cx="360669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255813" y="5879592"/>
            <a:ext cx="335066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1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Ravi's metric, Supply's data contract, Sofia's redesign — unconfirmed.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E4E2DA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457200" y="651967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5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 </a:t>
            </a:r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 Wen and Marcus to scope the code-level fix and its cost against this mockup, in parallel with Sofia folding it into the console redesign.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2026-09-22T18:02:52Z</dcterms:created>
  <dcterms:modified xsi:type="dcterms:W3CDTF">2026-09-22T18:02:52Z</dcterms:modified>
</cp:coreProperties>
</file>